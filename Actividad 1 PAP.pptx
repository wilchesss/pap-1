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635ea192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635ea192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635ea192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635ea192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635ea1920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635ea192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635ea1920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635ea1920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635ea1920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635ea1920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635ea1920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635ea1920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635ea1920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c635ea192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635ea1920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c635ea1920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635ea1920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635ea1920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635ea1920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635ea1920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635ea1920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c635ea1920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Actividad 1 PAP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Aproximaciones sectoriales para comprender la </a:t>
            </a:r>
            <a:r>
              <a:rPr lang="es"/>
              <a:t>información</a:t>
            </a:r>
            <a:r>
              <a:rPr lang="es"/>
              <a:t> y crear la matriz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</a:t>
            </a:r>
            <a:r>
              <a:rPr lang="es"/>
              <a:t> y Enfoque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Intento de </a:t>
            </a:r>
            <a:r>
              <a:rPr lang="es" sz="1600">
                <a:latin typeface="Arial"/>
                <a:ea typeface="Arial"/>
                <a:cs typeface="Arial"/>
                <a:sym typeface="Arial"/>
              </a:rPr>
              <a:t>aproximación</a:t>
            </a:r>
            <a:r>
              <a:rPr lang="es" sz="1600">
                <a:latin typeface="Arial"/>
                <a:ea typeface="Arial"/>
                <a:cs typeface="Arial"/>
                <a:sym typeface="Arial"/>
              </a:rPr>
              <a:t> de relaciones sectoriales a partir de datos observados por regresiones multivariadas.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Buscar crear una matriz de coeficientes </a:t>
            </a:r>
            <a:r>
              <a:rPr lang="es" sz="1600">
                <a:latin typeface="Arial"/>
                <a:ea typeface="Arial"/>
                <a:cs typeface="Arial"/>
                <a:sym typeface="Arial"/>
              </a:rPr>
              <a:t>econométricos</a:t>
            </a:r>
            <a:r>
              <a:rPr lang="es" sz="1600"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La estructura es parecida a una matriz insumo-producto pero no es lo mismo, solo mantiene sus interrelaciones.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s" sz="1600">
                <a:latin typeface="Arial"/>
                <a:ea typeface="Arial"/>
                <a:cs typeface="Arial"/>
                <a:sym typeface="Arial"/>
              </a:rPr>
              <a:t>Busca encontrar flujos de movimiento y dependencias </a:t>
            </a:r>
            <a:r>
              <a:rPr lang="es" sz="1600">
                <a:latin typeface="Arial"/>
                <a:ea typeface="Arial"/>
                <a:cs typeface="Arial"/>
                <a:sym typeface="Arial"/>
              </a:rPr>
              <a:t>estadísticas</a:t>
            </a:r>
            <a:r>
              <a:rPr lang="es" sz="1600">
                <a:latin typeface="Arial"/>
                <a:ea typeface="Arial"/>
                <a:cs typeface="Arial"/>
                <a:sym typeface="Arial"/>
              </a:rPr>
              <a:t> entre sectores.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 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Estimar la sensibilidad de la actividad económica de un sector respecto a la evolución de otros sectores.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Construir una estructura matricial de coeficientes econométricos que capture estas interrelaciones.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Evaluar si dicha estructura puede interpretarse como una aproximación reducida a una matriz de relaciones sectoriales.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Datos e insumos utilizados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307850"/>
            <a:ext cx="7038900" cy="31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25107" lvl="0" marL="457200" rtl="0" algn="just">
              <a:spcBef>
                <a:spcPts val="0"/>
              </a:spcBef>
              <a:spcAft>
                <a:spcPts val="0"/>
              </a:spcAft>
              <a:buSzPct val="119688"/>
              <a:buFont typeface="Arial"/>
              <a:buChar char="●"/>
            </a:pPr>
            <a:r>
              <a:rPr lang="es" sz="2032">
                <a:latin typeface="Arial"/>
                <a:ea typeface="Arial"/>
                <a:cs typeface="Arial"/>
                <a:sym typeface="Arial"/>
              </a:rPr>
              <a:t>pib_jalisco_actividad.xlsx =Producto Interno Bruto del estado de Jalisco por actividad económica para el periodo 2003–2021, publicado por el INEGI.</a:t>
            </a:r>
            <a:endParaRPr sz="2032">
              <a:latin typeface="Arial"/>
              <a:ea typeface="Arial"/>
              <a:cs typeface="Arial"/>
              <a:sym typeface="Arial"/>
            </a:endParaRPr>
          </a:p>
          <a:p>
            <a:pPr indent="-325107" lvl="0" marL="457200" rtl="0" algn="just">
              <a:spcBef>
                <a:spcPts val="1000"/>
              </a:spcBef>
              <a:spcAft>
                <a:spcPts val="0"/>
              </a:spcAft>
              <a:buSzPct val="119688"/>
              <a:buFont typeface="Arial"/>
              <a:buChar char="●"/>
            </a:pPr>
            <a:r>
              <a:rPr lang="es" sz="2032">
                <a:latin typeface="Arial"/>
                <a:ea typeface="Arial"/>
                <a:cs typeface="Arial"/>
                <a:sym typeface="Arial"/>
              </a:rPr>
              <a:t>Clasificacion_IMSS.csv = Archivo de clasificación del IMSS que relaciona los códigos de sector económico primario y secundario con su descripción correspondiente.</a:t>
            </a:r>
            <a:endParaRPr sz="2032">
              <a:latin typeface="Arial"/>
              <a:ea typeface="Arial"/>
              <a:cs typeface="Arial"/>
              <a:sym typeface="Arial"/>
            </a:endParaRPr>
          </a:p>
          <a:p>
            <a:pPr indent="-325107" lvl="0" marL="457200" rtl="0" algn="just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SzPct val="119688"/>
              <a:buFont typeface="Arial"/>
              <a:buChar char="●"/>
            </a:pPr>
            <a:r>
              <a:rPr lang="es" sz="2032">
                <a:latin typeface="Arial"/>
                <a:ea typeface="Arial"/>
                <a:cs typeface="Arial"/>
                <a:sym typeface="Arial"/>
              </a:rPr>
              <a:t>Inegi_T1_4.csv: Serie del Producto Interno Bruto trimestral, año base 2018, desde el primer trimestre de 1993 hasta el tercer trimestre de 2025 (millones de pesos anualizados).</a:t>
            </a:r>
            <a:endParaRPr sz="2032">
              <a:latin typeface="Arial"/>
              <a:ea typeface="Arial"/>
              <a:cs typeface="Arial"/>
              <a:sym typeface="Arial"/>
            </a:endParaRPr>
          </a:p>
          <a:p>
            <a:pPr indent="-325107" lvl="0" marL="457200" rtl="0" algn="just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ct val="119688"/>
              <a:buFont typeface="Arial"/>
              <a:buChar char="●"/>
            </a:pPr>
            <a:r>
              <a:rPr lang="es" sz="2032">
                <a:latin typeface="Arial"/>
                <a:ea typeface="Arial"/>
                <a:cs typeface="Arial"/>
                <a:sym typeface="Arial"/>
              </a:rPr>
              <a:t>IMAI_2.xlsx: Indicador Mensual de la Actividad Industrial, año base 2018 (archivo no utilizado directamente en el código).</a:t>
            </a:r>
            <a:endParaRPr sz="2032">
              <a:latin typeface="Arial"/>
              <a:ea typeface="Arial"/>
              <a:cs typeface="Arial"/>
              <a:sym typeface="Arial"/>
            </a:endParaRPr>
          </a:p>
          <a:p>
            <a:pPr indent="-325107" lvl="0" marL="457200" rtl="0" algn="just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ct val="119688"/>
              <a:buFont typeface="Arial"/>
              <a:buChar char="●"/>
            </a:pPr>
            <a:r>
              <a:rPr lang="es" sz="2032">
                <a:latin typeface="Arial"/>
                <a:ea typeface="Arial"/>
                <a:cs typeface="Arial"/>
                <a:sym typeface="Arial"/>
              </a:rPr>
              <a:t>HW_Datos_Jal.csv: Base de datos mensual de febrero de 2010 a julio de 2023, desagregada por sectores económicos, que contiene la variable utilizada como proxy de actividad económica, identificada como trabajadores asegurados ante el IMSS.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Base de datos utilizada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5551" y="899298"/>
            <a:ext cx="4345599" cy="382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18" title="Gemini_Generated_Image_vgttbvgttbvgttb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43048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19" title="Gemini_Generated_Image_vgttbvgttbvgttbv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8135"/>
            <a:ext cx="9144003" cy="4987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600"/>
              <a:t>La matriz nos queda como un ejercicio de matriz cuadrada de coeficientes </a:t>
            </a:r>
            <a:r>
              <a:rPr lang="es" sz="1600"/>
              <a:t>econométricos</a:t>
            </a:r>
            <a:r>
              <a:rPr lang="es" sz="1600"/>
              <a:t>. Cada uno de los elementos representa </a:t>
            </a:r>
            <a:r>
              <a:rPr lang="es" sz="1600"/>
              <a:t>asociación</a:t>
            </a:r>
            <a:r>
              <a:rPr lang="es" sz="1600"/>
              <a:t> entre sectores.</a:t>
            </a:r>
            <a:endParaRPr sz="1600"/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4363" y="2478500"/>
            <a:ext cx="4772025" cy="20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Explicación</a:t>
            </a:r>
            <a:r>
              <a:rPr lang="es"/>
              <a:t> de los resultados de la matriz </a:t>
            </a:r>
            <a:endParaRPr/>
          </a:p>
        </p:txBody>
      </p:sp>
      <p:sp>
        <p:nvSpPr>
          <p:cNvPr id="186" name="Google Shape;186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Arial"/>
                <a:ea typeface="Arial"/>
                <a:cs typeface="Arial"/>
                <a:sym typeface="Arial"/>
              </a:rPr>
              <a:t>Interpretación económica de los coeficientes: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s" sz="1800">
                <a:latin typeface="Arial"/>
                <a:ea typeface="Arial"/>
                <a:cs typeface="Arial"/>
                <a:sym typeface="Arial"/>
              </a:rPr>
              <a:t>βi,j​ &gt; 0 indica relación positiva.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s" sz="1800">
                <a:latin typeface="Arial"/>
                <a:ea typeface="Arial"/>
                <a:cs typeface="Arial"/>
                <a:sym typeface="Arial"/>
              </a:rPr>
              <a:t>βi,j​ &lt; 0 indica relación negativa.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s" sz="1800">
                <a:latin typeface="Arial"/>
                <a:ea typeface="Arial"/>
                <a:cs typeface="Arial"/>
                <a:sym typeface="Arial"/>
              </a:rPr>
              <a:t>Magnitud: Intensidad de la relación.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s" sz="1800">
                <a:latin typeface="Arial"/>
                <a:ea typeface="Arial"/>
                <a:cs typeface="Arial"/>
                <a:sym typeface="Arial"/>
              </a:rPr>
              <a:t>No representa flujos directos de insumos.</a:t>
            </a:r>
            <a:endParaRPr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22" title="Gemini_Generated_Image_vgttbvgttbvgttbv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8135"/>
            <a:ext cx="9144003" cy="4987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Interpretación</a:t>
            </a:r>
            <a:r>
              <a:rPr lang="es"/>
              <a:t> de los Resultados</a:t>
            </a:r>
            <a:endParaRPr/>
          </a:p>
        </p:txBody>
      </p:sp>
      <p:sp>
        <p:nvSpPr>
          <p:cNvPr id="199" name="Google Shape;199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just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" sz="1200">
                <a:latin typeface="Arial"/>
                <a:ea typeface="Arial"/>
                <a:cs typeface="Arial"/>
                <a:sym typeface="Arial"/>
              </a:rPr>
              <a:t>Los coeficientes estimados se organizan en una matriz cuadrada, donde cada fila representa el subgrupo explicado y cada columna el subgrupo explicativo.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" sz="1200">
                <a:latin typeface="Arial"/>
                <a:ea typeface="Arial"/>
                <a:cs typeface="Arial"/>
                <a:sym typeface="Arial"/>
              </a:rPr>
              <a:t>La matriz estandarizada constituye el principal resultado del ejercicio.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" sz="1200">
                <a:latin typeface="Arial"/>
                <a:ea typeface="Arial"/>
                <a:cs typeface="Arial"/>
                <a:sym typeface="Arial"/>
              </a:rPr>
              <a:t>La generación no corresponde a una Matriz Insumo–Producto formal, ya que no representa flujos monetarios ni satisface identidades contables. Se debe interpretarse como una aproximación empírica a las interdependencias sectoriales basada en co-movimientos observados sobre empleo asegurado.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s" sz="1200">
                <a:latin typeface="Arial"/>
                <a:ea typeface="Arial"/>
                <a:cs typeface="Arial"/>
                <a:sym typeface="Arial"/>
              </a:rPr>
              <a:t>El código incorpora ejercicios de validación externa. Primero, se analiza la relación entre el empleo asegurado agregado y el PIB trimestral del INEGI mediante correlaciones y una regresión lineal simple.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Conclusiones Finales</a:t>
            </a:r>
            <a:endParaRPr/>
          </a:p>
        </p:txBody>
      </p:sp>
      <p:sp>
        <p:nvSpPr>
          <p:cNvPr id="205" name="Google Shape;205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Es fundamental interpretar estos resultados como </a:t>
            </a:r>
            <a:r>
              <a:rPr b="1" lang="es" sz="1500">
                <a:latin typeface="Arial"/>
                <a:ea typeface="Arial"/>
                <a:cs typeface="Arial"/>
                <a:sym typeface="Arial"/>
              </a:rPr>
              <a:t>asociaciones estadísticas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 observadas en el periodo 2010-2023, y no como predicciones mecánicas o elasticidades fijas. Su valor principal es </a:t>
            </a:r>
            <a:r>
              <a:rPr b="1" lang="es" sz="1500">
                <a:latin typeface="Arial"/>
                <a:ea typeface="Arial"/>
                <a:cs typeface="Arial"/>
                <a:sym typeface="Arial"/>
              </a:rPr>
              <a:t>exploratorio</a:t>
            </a:r>
            <a:r>
              <a:rPr lang="es" sz="1500">
                <a:latin typeface="Arial"/>
                <a:ea typeface="Arial"/>
                <a:cs typeface="Arial"/>
                <a:sym typeface="Arial"/>
              </a:rPr>
              <a:t>: nos permite detectar redes de dependencia económica que complementan el análisis de las cuentas nacionales tradicionales.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Indica asociación estadística histórica, no elasticidades estructurales fijas.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s" sz="1500">
                <a:latin typeface="Arial"/>
                <a:ea typeface="Arial"/>
                <a:cs typeface="Arial"/>
                <a:sym typeface="Arial"/>
              </a:rPr>
              <a:t>Herramienta exploratoria para visualizar redes y dependencias sectoriales.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